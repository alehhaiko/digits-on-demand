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9D7F4BF-295D-01A7-1C9B-DBBE0F541610}">
          <p14:sldIdLst>
            <p14:sldId id="256"/>
          </p14:sldIdLst>
        </p14:section>
        <p14:section name="Problem" id="{43A5696A-E773-0DCF-25CE-C8F6D4B71D55}">
          <p14:sldIdLst>
            <p14:sldId id="257"/>
            <p14:sldId id="258"/>
          </p14:sldIdLst>
        </p14:section>
        <p14:section name="Solution" id="{2A89F873-D8A8-AA3C-9065-FCAAE1380DB9}">
          <p14:sldIdLst>
            <p14:sldId id="259"/>
            <p14:sldId id="260"/>
          </p14:sldIdLst>
        </p14:section>
        <p14:section name="Results" id="{45C847E6-3F6D-B635-F408-7FAEF5CA81F7}">
          <p14:sldIdLst>
            <p14:sldId id="261"/>
            <p14:sldId id="262"/>
          </p14:sldIdLst>
        </p14:section>
        <p14:section name="Close" id="{220FAC37-B5CB-AB1E-0662-FAA3B5EAF93B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6A3F"/>
    <a:srgbClr val="E17C4E"/>
    <a:srgbClr val="1A2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49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224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6035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same mechanism as image generators, small enough for one notebook; live run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= controllable generation, not MNIST. Downloaded vs built is mandatory.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 only; the professor knows the mechanism. Point at the Condition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Grade slide — slowest pace. From the repo: only a comparison baseline, none of its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 prep: closed-form forward jump via alpha-bar; no closed form for the reverse — hence iterative sampling.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numbers measured: 30 epochs, 348 s, loss 1.105 to 0.040. Grid = samples_mnist.png from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ask-the-audience moment is the presentation. Narrate the 400 network calls during the 5-second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under 7 minutes. Q&amp;A answers in the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1A2238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179"/>
                </a:solidFill>
              </a:rPr>
              <a:t>CSE/MB620 · Digits on Demand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36A3F"/>
                </a:solidFill>
              </a:rPr>
              <a:t>CSE/MB620 · DEEP LEARNING WITH PYTORCH · COURSE PROJECT</a:t>
            </a:r>
            <a:endParaRPr lang="en-US" sz="1300" dirty="0">
              <a:solidFill>
                <a:srgbClr val="E36A3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7F8F5"/>
                </a:solidFill>
              </a:rPr>
              <a:t>Ask the model to write a digit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76722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C8DC"/>
                </a:solidFill>
              </a:rPr>
              <a:t>Digits on Demand: a class-conditional diffusion model, built and trained from scratch on MNIST — small on purpose, demonstrated live.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C8DC"/>
                </a:solidFill>
              </a:rPr>
              <a:t>Aleh Haiko · October 24, 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36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sample(label=3) → 3</a:t>
            </a:r>
            <a:endParaRPr lang="en-US" sz="1400" dirty="0">
              <a:solidFill>
                <a:srgbClr val="E36A3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200" dirty="0">
                <a:solidFill>
                  <a:srgbClr val="1A22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 model, one narrow job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627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4572E"/>
                </a:solidFill>
              </a:rPr>
              <a:t>The task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2996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</a:rPr>
              <a:t>Generate handwritten digits on request: </a:t>
            </a:r>
            <a:r>
              <a:rPr lang="en-US" sz="1400" dirty="0">
                <a:solidFill>
                  <a:srgbClr val="4A5568"/>
                </a:solidFill>
              </a:rPr>
              <a:t>ask for a 3, get a 3. Diffusion — the course’s 20-point model — plus class conditioning.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15968" y="14630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44568" y="1627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4572E"/>
                </a:solidFill>
              </a:rPr>
              <a:t>Why small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4544568" y="202996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A narrow-domain model trained end to end beats a grand plan that does not run. Under a quarter-million parameters, trains on a free Colab GPU in six minutes.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1856" y="14630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0456" y="1627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4572E"/>
                </a:solidFill>
              </a:rPr>
              <a:t>The data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8220456" y="202996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</a:rPr>
              <a:t>MNIST: </a:t>
            </a:r>
            <a:r>
              <a:rPr lang="en-US" sz="1400" dirty="0">
                <a:solidFill>
                  <a:srgbClr val="4A5568"/>
                </a:solidFill>
              </a:rPr>
              <a:t>60,000 labeled digits, 28 × 28 grayscale. Labels come free: they become the condition, not a classification target.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10917936" cy="1280160"/>
          </a:xfrm>
          <a:prstGeom prst="roundRect">
            <a:avLst>
              <a:gd name="adj" fmla="val 4211"/>
            </a:avLst>
          </a:prstGeom>
          <a:solidFill>
            <a:srgbClr val="1A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7F8F5"/>
                </a:solidFill>
              </a:rPr>
              <a:t>Downloaded vs built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4315968"/>
            <a:ext cx="71606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C8DC"/>
                </a:solidFill>
              </a:rPr>
              <a:t>Downloaded: the dataset and a reference repo for comparison (TeaPearce/Conditional_Diffusion_MNIST). Built: AI-assisted code — read, verified, and edited by me; every design decision is mine to defend.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200" dirty="0">
                <a:solidFill>
                  <a:srgbClr val="1A22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it works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4572E"/>
                </a:solidFill>
              </a:rPr>
              <a:t>Forward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4572E"/>
                </a:solidFill>
              </a:rPr>
              <a:t>Reverse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892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4572E"/>
                </a:solidFill>
              </a:rPr>
              <a:t>Condition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377440" y="1554480"/>
            <a:ext cx="914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37744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238"/>
                </a:solidFill>
              </a:rPr>
              <a:t>3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401568" y="1883664"/>
            <a:ext cx="502920" cy="256032"/>
          </a:xfrm>
          <a:prstGeom prst="rightArrow">
            <a:avLst/>
          </a:prstGeom>
          <a:solidFill>
            <a:srgbClr val="9AA3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23360" y="1554480"/>
            <a:ext cx="914400" cy="914400"/>
          </a:xfrm>
          <a:prstGeom prst="roundRect">
            <a:avLst>
              <a:gd name="adj" fmla="val 7000"/>
            </a:avLst>
          </a:prstGeom>
          <a:solidFill>
            <a:srgbClr val="D8DCE4"/>
          </a:solidFill>
          <a:ln w="19050">
            <a:solidFill>
              <a:srgbClr val="9AA3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02336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A7179"/>
                </a:solidFill>
              </a:rPr>
              <a:t>3·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047488" y="1883664"/>
            <a:ext cx="502920" cy="256032"/>
          </a:xfrm>
          <a:prstGeom prst="rightArrow">
            <a:avLst/>
          </a:prstGeom>
          <a:solidFill>
            <a:srgbClr val="9AA3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669280" y="1554480"/>
            <a:ext cx="914400" cy="914400"/>
          </a:xfrm>
          <a:prstGeom prst="roundRect">
            <a:avLst>
              <a:gd name="adj" fmla="val 7000"/>
            </a:avLst>
          </a:prstGeom>
          <a:solidFill>
            <a:srgbClr val="B9C0CE"/>
          </a:solidFill>
          <a:ln w="19050">
            <a:solidFill>
              <a:srgbClr val="9AA3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66928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A7179"/>
                </a:solidFill>
              </a:rPr>
              <a:t>···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93408" y="1883664"/>
            <a:ext cx="502920" cy="256032"/>
          </a:xfrm>
          <a:prstGeom prst="rightArrow">
            <a:avLst/>
          </a:prstGeom>
          <a:solidFill>
            <a:srgbClr val="9AA3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0" y="1554480"/>
            <a:ext cx="914400" cy="914400"/>
          </a:xfrm>
          <a:prstGeom prst="roundRect">
            <a:avLst>
              <a:gd name="adj" fmla="val 7000"/>
            </a:avLst>
          </a:prstGeom>
          <a:solidFill>
            <a:srgbClr val="8A93A8"/>
          </a:solidFill>
          <a:ln w="19050">
            <a:solidFill>
              <a:srgbClr val="6A71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31520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5"/>
                </a:solidFill>
              </a:rPr>
              <a:t>noise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1554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Add Gaussian noise for T = 400 steps by a fixed schedule. No training here, the data labels itself.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377440" y="3063240"/>
            <a:ext cx="914400" cy="914400"/>
          </a:xfrm>
          <a:prstGeom prst="roundRect">
            <a:avLst>
              <a:gd name="adj" fmla="val 7000"/>
            </a:avLst>
          </a:prstGeom>
          <a:solidFill>
            <a:srgbClr val="8A93A8"/>
          </a:solidFill>
          <a:ln w="19050">
            <a:solidFill>
              <a:srgbClr val="6A71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2377440" y="3063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8F5"/>
                </a:solidFill>
              </a:rPr>
              <a:t>noise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01568" y="3392424"/>
            <a:ext cx="502920" cy="256032"/>
          </a:xfrm>
          <a:prstGeom prst="rightArrow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023360" y="3063240"/>
            <a:ext cx="1737360" cy="914400"/>
          </a:xfrm>
          <a:prstGeom prst="roundRect">
            <a:avLst>
              <a:gd name="adj" fmla="val 7000"/>
            </a:avLst>
          </a:prstGeom>
          <a:solidFill>
            <a:srgbClr val="1A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023360" y="30632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8F5"/>
                </a:solidFill>
              </a:rPr>
              <a:t>denoiser
</a:t>
            </a:r>
            <a:r>
              <a:rPr lang="en-US" sz="1100" b="1" dirty="0">
                <a:solidFill>
                  <a:srgbClr val="E36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predicts noise</a:t>
            </a:r>
            <a:endParaRPr lang="en-US" sz="1400" b="1" dirty="0">
              <a:solidFill>
                <a:srgbClr val="E36A3F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870448" y="3392424"/>
            <a:ext cx="502920" cy="256032"/>
          </a:xfrm>
          <a:prstGeom prst="rightArrow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92240" y="3063240"/>
            <a:ext cx="914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1A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492240" y="3063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238"/>
                </a:solidFill>
              </a:rPr>
              <a:t>3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3063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The network’s only job: estimate the noise at step t. Subtract it step by step, no closed form, so sampling iterates.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377440" y="45720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The digit label rides along as an embedding, injected into every denoising step. It’s the same move that lets Stable Diffusion follow a text prompt, at 1/1000 the size. Trained with MSE on predicted vs real noise, timesteps drawn at random.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200" dirty="0">
                <a:solidFill>
                  <a:srgbClr val="1A22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US" sz="3200" dirty="0">
                <a:solidFill>
                  <a:srgbClr val="1A22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built on top of the baseline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238"/>
                </a:solidFill>
              </a:rPr>
              <a:t>1 · Own denoiser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2996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A compact U-Net written from the course material—</a:t>
            </a:r>
            <a:r>
              <a:rPr lang="en-US" sz="1400" dirty="0" err="1">
                <a:solidFill>
                  <a:srgbClr val="4A5568"/>
                </a:solidFill>
              </a:rPr>
              <a:t>downsampling</a:t>
            </a:r>
            <a:r>
              <a:rPr lang="en-US" sz="1400" dirty="0">
                <a:solidFill>
                  <a:srgbClr val="4A5568"/>
                </a:solidFill>
              </a:rPr>
              <a:t>, bottleneck, horizontal skip connections—instead of the repo’s architecture. 228,897 parameters.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3796" y="3800203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82396" y="3964795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238"/>
                </a:solidFill>
              </a:rPr>
              <a:t>3 · Guidance knob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882396" y="4367131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Classifier-free guidance: labels are dropped 10% of the time in training, and one slider at sampling trades variety for legibility (shown live).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5714" y="1470116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24314" y="16347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238"/>
                </a:solidFill>
              </a:rPr>
              <a:t>2 · Class conditioning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424314" y="2037044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nn.Embedding(10, d) for the digit label plus a sinusoidal timestep embedding, both injected into every U-Net stage.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06600" y="37947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35200" y="3959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238"/>
                </a:solidFill>
              </a:rPr>
              <a:t>4 · Measured, not estimated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6435200" y="436168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Every number on the results slide comes from the real run committed to the repo: training time, loss endpoints, sampling speed. No borrowed figures.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200" dirty="0">
                <a:solidFill>
                  <a:srgbClr val="1A22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Training: one line of loss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852160" cy="1600200"/>
          </a:xfrm>
          <a:prstGeom prst="roundRect">
            <a:avLst>
              <a:gd name="adj" fmla="val 4571"/>
            </a:avLst>
          </a:prstGeom>
          <a:solidFill>
            <a:srgbClr val="1A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169164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BFC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randint(0, T, (batch,))
x_t, noise = forward(x0, t)
</a:t>
            </a:r>
            <a:r>
              <a:rPr lang="en-US" b="1" dirty="0">
                <a:solidFill>
                  <a:srgbClr val="E36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mse(model(x_t, t, label), noise)</a:t>
            </a:r>
            <a:endParaRPr lang="en-US" b="1" dirty="0">
              <a:solidFill>
                <a:srgbClr val="E36A3F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</a:rPr>
              <a:t>Random timestep per image: the model sees every corruption level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</a:rPr>
              <a:t>The label is an input: no annotation beyond what MNIST ships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</a:rPr>
              <a:t>Adam, lr 1e-3, batch 256, 30 epochs on a free Colab T4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1554480"/>
            <a:ext cx="46177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949440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2238"/>
                </a:solidFill>
              </a:rPr>
              <a:t>loss, measured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6949440" y="22402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4572E"/>
                </a:solidFill>
              </a:rPr>
              <a:t>1.105 </a:t>
            </a:r>
            <a:r>
              <a:rPr lang="en-US" sz="3600" dirty="0">
                <a:solidFill>
                  <a:srgbClr val="1A2238"/>
                </a:solidFill>
              </a:rPr>
              <a:t>→</a:t>
            </a:r>
            <a:r>
              <a:rPr lang="en-US" sz="4400" b="1" dirty="0">
                <a:solidFill>
                  <a:srgbClr val="E4572E"/>
                </a:solidFill>
              </a:rPr>
              <a:t> 0.040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32918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</a:rPr>
              <a:t>30 epochs · 348 seconds · T4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45262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7179"/>
                </a:solidFill>
              </a:rPr>
              <a:t>The start is no accident: predicting unit Gaussian noise blindly costs exactly 1.0 of MSE.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200" dirty="0">
                <a:solidFill>
                  <a:srgbClr val="1A22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66751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claude-0/-home-claude/56c0a184-cbd8-542b-86d2-184de92624de/scratchpad/deck/samples_mni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1783080"/>
            <a:ext cx="6126480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3949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7179"/>
                </a:solidFill>
              </a:rPr>
              <a:t>Every column is a requested class: the model draws what you ask.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589520" y="150876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818120" y="161848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4572E"/>
                </a:solidFill>
              </a:rPr>
              <a:t>10 / 10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286000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Requested classes render legibly in the committed sample grid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589520" y="3090672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818120" y="32004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4572E"/>
                </a:solidFill>
              </a:rPr>
              <a:t>5 s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3867912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To sample a batch of ten digits on the demo GPU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589520" y="4672584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818120" y="478231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4572E"/>
                </a:solidFill>
              </a:rPr>
              <a:t>0.23M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5449824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Parameters — thousands of times smaller than Stable Diffusion’s denoiser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4572E"/>
                </a:solidFill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7F8F5"/>
                </a:solidFill>
              </a:rPr>
              <a:t>Pick a digit.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7F8F5"/>
                </a:solidFill>
              </a:rPr>
              <a:t>Watch it appear from noise.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3346268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3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35291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36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 the repo</a:t>
            </a:r>
            <a:endParaRPr lang="en-US" b="1" dirty="0">
              <a:solidFill>
                <a:srgbClr val="E36A3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60120" y="396806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C8DC"/>
                </a:solidFill>
              </a:rPr>
              <a:t>Code + trained checkpoint, public on GitHub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3346268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3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709160" y="35291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36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sample(label=?)</a:t>
            </a:r>
            <a:endParaRPr lang="en-US" b="1" dirty="0">
              <a:solidFill>
                <a:srgbClr val="E36A3F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709160" y="39680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C8DC"/>
                </a:solidFill>
              </a:rPr>
              <a:t>The audience picks the digit · ~5 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0" y="3346268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3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458200" y="35291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36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guidance 0 vs 4</a:t>
            </a:r>
            <a:endParaRPr lang="en-US" b="1" dirty="0">
              <a:solidFill>
                <a:srgbClr val="E36A3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58200" y="39680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C8DC"/>
                </a:solidFill>
              </a:rPr>
              <a:t>Variety vs legibility, same seed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972594"/>
            <a:ext cx="10698480" cy="448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A3B5"/>
                </a:solidFill>
              </a:rPr>
              <a:t>Fallback: </a:t>
            </a:r>
            <a:r>
              <a:rPr lang="en-US" sz="1300" dirty="0">
                <a:solidFill>
                  <a:srgbClr val="9AA3B5"/>
                </a:solidFill>
              </a:rPr>
              <a:t>the checkpoint is committed, so a fresh clone restores the demo in about a minute; offline, the same script samples on CPU.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200" dirty="0">
                <a:solidFill>
                  <a:srgbClr val="1A22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Takeaways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627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4572E"/>
                </a:solidFill>
              </a:rPr>
              <a:t>What worked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29968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The whole diffusion recipe fits in one notebook: fixed forward process, noise-predicting U-Net, iterative sampling. Conditioning is one embedding away.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15968" y="14630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44568" y="1627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4572E"/>
                </a:solidFill>
              </a:rPr>
              <a:t>Measured results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4544568" y="2029968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A5568"/>
                </a:solidFill>
              </a:rPr>
              <a:t>Loss 1.105 → 0.040 in 348 seconds.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A5568"/>
                </a:solidFill>
              </a:rPr>
              <a:t>All ten classes render on request.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A5568"/>
                </a:solidFill>
              </a:rPr>
              <a:t>228,897 parameters end to end.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1856" y="14630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0E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0456" y="1627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4572E"/>
                </a:solidFill>
              </a:rPr>
              <a:t>Next step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8220456" y="2029968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Swap the U-Net denoiser for a small transformer—the DiT move from class—and compare at equal parameter count.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10917936" cy="1371600"/>
          </a:xfrm>
          <a:prstGeom prst="roundRect">
            <a:avLst>
              <a:gd name="adj" fmla="val 5333"/>
            </a:avLst>
          </a:prstGeom>
          <a:solidFill>
            <a:srgbClr val="1A2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42062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7F8F5"/>
                </a:solidFill>
              </a:rPr>
              <a:t>Code, checkpoint and samples:  </a:t>
            </a:r>
            <a:r>
              <a:rPr lang="en-US" sz="1600" dirty="0">
                <a:solidFill>
                  <a:srgbClr val="E36A3F"/>
                </a:solidFill>
              </a:rPr>
              <a:t>github.com/AlehHaiko/digits-on-demand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8229600" y="4206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FC8DC"/>
                </a:solidFill>
              </a:rPr>
              <a:t>Thank you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A717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ts on Demand">
  <a:themeElements>
    <a:clrScheme name="Digits on Demand">
      <a:dk1>
        <a:srgbClr val="1A2238"/>
      </a:dk1>
      <a:lt1>
        <a:srgbClr val="FFFFFF"/>
      </a:lt1>
      <a:dk2>
        <a:srgbClr val="171E33"/>
      </a:dk2>
      <a:lt2>
        <a:srgbClr val="F7F8F5"/>
      </a:lt2>
      <a:accent1>
        <a:srgbClr val="E4572E"/>
      </a:accent1>
      <a:accent2>
        <a:srgbClr val="4A5568"/>
      </a:accent2>
      <a:accent3>
        <a:srgbClr val="BFC8DC"/>
      </a:accent3>
      <a:accent4>
        <a:srgbClr val="6A7179"/>
      </a:accent4>
      <a:accent5>
        <a:srgbClr val="9AA3B5"/>
      </a:accent5>
      <a:accent6>
        <a:srgbClr val="E0E3DD"/>
      </a:accent6>
      <a:hlink>
        <a:srgbClr val="E4572E"/>
      </a:hlink>
      <a:folHlink>
        <a:srgbClr val="E4572E"/>
      </a:folHlink>
    </a:clrScheme>
    <a:fontScheme name="Digits on Demand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926</Words>
  <Application>Microsoft Macintosh PowerPoint</Application>
  <PresentationFormat>Widescreen</PresentationFormat>
  <Paragraphs>97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Digits on Demand</vt:lpstr>
      <vt:lpstr>PowerPoint Presentation</vt:lpstr>
      <vt:lpstr>One model, one narrow job</vt:lpstr>
      <vt:lpstr>How it works</vt:lpstr>
      <vt:lpstr>What is built on top of the baseline</vt:lpstr>
      <vt:lpstr>Training: one line of loss</vt:lpstr>
      <vt:lpstr>Results</vt:lpstr>
      <vt:lpstr>PowerPoint Presentation</vt:lpstr>
      <vt:lpstr>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Aleh Haiko</cp:lastModifiedBy>
  <cp:revision>4</cp:revision>
  <dcterms:created xsi:type="dcterms:W3CDTF">2026-10-24T01:14:08Z</dcterms:created>
  <dcterms:modified xsi:type="dcterms:W3CDTF">2026-10-24T02:21:01Z</dcterms:modified>
</cp:coreProperties>
</file>